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1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1528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36C80-E443-6FB4-39EB-4A4243D39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7BBA16-0123-671C-A628-330D8FE91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28ACFE-8AA1-A09D-6FA9-D92FEB1DC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AD0B3-8846-EE26-5C5F-AD9299E72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2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457200"/>
            <a:ext cx="3840480" cy="3840480"/>
          </a:xfrm>
          <a:prstGeom prst="ellipse">
            <a:avLst/>
          </a:prstGeom>
          <a:solidFill>
            <a:srgbClr val="2D5016">
              <a:alpha val="40000"/>
            </a:srgbClr>
          </a:solidFill>
          <a:ln w="12700">
            <a:solidFill>
              <a:srgbClr val="2D501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91440"/>
            <a:ext cx="2743200" cy="2743200"/>
          </a:xfrm>
          <a:prstGeom prst="ellipse">
            <a:avLst/>
          </a:prstGeom>
          <a:solidFill>
            <a:srgbClr val="F2A604">
              <a:alpha val="20000"/>
            </a:srgbClr>
          </a:solidFill>
          <a:ln w="12700">
            <a:solidFill>
              <a:srgbClr val="F2A604">
                <a:alpha val="2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5486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 err="1">
                <a:solidFill>
                  <a:srgbClr val="F2A6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BeeTrack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365760" y="1508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BD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de Gestion Apicole Intelligente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65760" y="2057400"/>
            <a:ext cx="2286000" cy="36576"/>
          </a:xfrm>
          <a:prstGeom prst="rect">
            <a:avLst/>
          </a:prstGeom>
          <a:solidFill>
            <a:srgbClr val="F2A604"/>
          </a:solidFill>
          <a:ln w="12700">
            <a:solidFill>
              <a:srgbClr val="F2A60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1 — Planification &amp; Spécification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2834640"/>
            <a:ext cx="5029200" cy="1280160"/>
          </a:xfrm>
          <a:prstGeom prst="rect">
            <a:avLst/>
          </a:prstGeom>
          <a:solidFill>
            <a:srgbClr val="1E3A1E"/>
          </a:solidFill>
          <a:ln w="12700">
            <a:solidFill>
              <a:srgbClr val="F2A60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9077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6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de développement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321868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Bilel Habibi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Ahmed Ayadi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577840" y="2926080"/>
            <a:ext cx="150876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0" y="29992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269480" y="2926080"/>
            <a:ext cx="150876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69480" y="29992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577840" y="3520440"/>
            <a:ext cx="150876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77840" y="35935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269480" y="3520440"/>
            <a:ext cx="1508760" cy="457200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69480" y="35935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6576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/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F2A604"/>
          </a:solidFill>
          <a:ln w="12700">
            <a:solidFill>
              <a:srgbClr val="F2A6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L'idée &amp; la problématique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01768"/>
            <a:ext cx="8778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BeeTrack — Gestion Apicole Intelligente  |  Validation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4023360" cy="3566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822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actuel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2344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sur papier ou Excel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d'historique des ruches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alerte sanitaire proactive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d'analyser la rentabilité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planification intelligente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2194560"/>
            <a:ext cx="457200" cy="73152"/>
          </a:xfrm>
          <a:prstGeom prst="rect">
            <a:avLst/>
          </a:prstGeom>
          <a:solidFill>
            <a:srgbClr val="F2A604"/>
          </a:solidFill>
          <a:ln w="12700">
            <a:solidFill>
              <a:srgbClr val="F2A60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2011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937760" y="685800"/>
            <a:ext cx="3931920" cy="356616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74920" y="822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BeeTrack — la solution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4920" y="12344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web centralisée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 par ruche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IA post-inspection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financier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&amp; alertes automatiques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F2A604"/>
          </a:solidFill>
          <a:ln w="12700">
            <a:solidFill>
              <a:srgbClr val="F2A6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 l'art — Étude comparative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01768"/>
            <a:ext cx="8778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BeeTrack — Gestion Apicole Intelligente  |  Validation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658368"/>
            <a:ext cx="1920240" cy="384048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13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94560" y="658368"/>
            <a:ext cx="1371600" cy="384048"/>
          </a:xfrm>
          <a:prstGeom prst="rect">
            <a:avLst/>
          </a:prstGeom>
          <a:solidFill>
            <a:srgbClr val="1A2E1A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713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BeeTrack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66160" y="658368"/>
            <a:ext cx="1371600" cy="384048"/>
          </a:xfrm>
          <a:prstGeom prst="rect">
            <a:avLst/>
          </a:prstGeom>
          <a:solidFill>
            <a:srgbClr val="374151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713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ApiTrack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37760" y="658368"/>
            <a:ext cx="1371600" cy="384048"/>
          </a:xfrm>
          <a:prstGeom prst="rect">
            <a:avLst/>
          </a:prstGeom>
          <a:solidFill>
            <a:srgbClr val="374151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713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Beekeeper+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658368"/>
            <a:ext cx="1371600" cy="384048"/>
          </a:xfrm>
          <a:prstGeom prst="rect">
            <a:avLst/>
          </a:prstGeom>
          <a:solidFill>
            <a:srgbClr val="374151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713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Excel/Papier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1042416"/>
            <a:ext cx="192024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0972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ruchers/ruches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1042416"/>
            <a:ext cx="1371600" cy="438912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40280" y="10972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566160" y="1042416"/>
            <a:ext cx="137160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10972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1042416"/>
            <a:ext cx="137160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10972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1042416"/>
            <a:ext cx="137160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10972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1517904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15727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Inspections détaillées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194560" y="1517904"/>
            <a:ext cx="1371600" cy="438912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40280" y="15727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566160" y="1517904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15727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937760" y="1517904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15727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09360" y="1517904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15727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74320" y="1993392"/>
            <a:ext cx="192024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20482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financier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194560" y="1993392"/>
            <a:ext cx="1371600" cy="438912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40280" y="204825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566160" y="1993392"/>
            <a:ext cx="137160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11880" y="204825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937760" y="1993392"/>
            <a:ext cx="137160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83480" y="204825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309360" y="1993392"/>
            <a:ext cx="137160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5080" y="204825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74320" y="2468880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25237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IA intégré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194560" y="2468880"/>
            <a:ext cx="1371600" cy="438912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40280" y="252374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3566160" y="2468880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11880" y="252374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937760" y="2468880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83480" y="252374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309360" y="2468880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55080" y="252374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274320" y="2944368"/>
            <a:ext cx="192024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" y="29992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intelligentes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194560" y="2944368"/>
            <a:ext cx="1371600" cy="438912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240280" y="29992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3566160" y="2944368"/>
            <a:ext cx="137160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11880" y="29992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4937760" y="2944368"/>
            <a:ext cx="137160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83480" y="29992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6309360" y="2944368"/>
            <a:ext cx="137160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55080" y="29992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274320" y="3419856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" y="34747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Multi-utilisateur / rôles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2194560" y="3419856"/>
            <a:ext cx="1371600" cy="438912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240280" y="34747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3566160" y="3419856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611880" y="34747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4937760" y="3419856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83480" y="34747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6309360" y="3419856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55080" y="34747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274320" y="3895344"/>
            <a:ext cx="192024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0040" y="39502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/ rapports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2194560" y="3895344"/>
            <a:ext cx="1371600" cy="438912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240280" y="39502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3566160" y="3895344"/>
            <a:ext cx="137160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11880" y="39502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4937760" y="3895344"/>
            <a:ext cx="137160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83480" y="39502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6309360" y="3895344"/>
            <a:ext cx="137160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55080" y="39502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274320" y="4370832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20040" y="44256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/ local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2194560" y="4370832"/>
            <a:ext cx="1371600" cy="438912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240280" y="44256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3566160" y="4370832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611880" y="44256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4937760" y="4370832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983480" y="44256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6309360" y="4370832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355080" y="44256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98" name="Text 96"/>
          <p:cNvSpPr/>
          <p:nvPr/>
        </p:nvSpPr>
        <p:spPr>
          <a:xfrm>
            <a:off x="274320" y="474599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BeeTrack est la seule solution combinant gestion apicole complète + IA + module financier.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F2A604"/>
          </a:solidFill>
          <a:ln w="12700">
            <a:solidFill>
              <a:srgbClr val="F2A6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 des acteurs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01768"/>
            <a:ext cx="8778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BeeTrack — Gestion Apicole Intelligente  |  Validation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685800"/>
            <a:ext cx="269748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749808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7589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Apiculteur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12618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 principal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1572768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ses ruchers, ruches, inspections, récoltes, tâches, finances. Interagit avec l'IA.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200400" y="6858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50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685800"/>
            <a:ext cx="2697480" cy="50292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749808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03320" y="7589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291840" y="12618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 système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291840" y="1572768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les comptes utilisateurs, attribue les rôles, consulte les statistiques globales.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126480" y="6858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86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26480" y="685800"/>
            <a:ext cx="2697480" cy="502920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749808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29400" y="7589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IA (Claude)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217920" y="12618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 externe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217920" y="1572768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Fournit les analyses d'inspections, recommandations proactives et réponses au chatbot.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 Chaque apiculteur n'a accès qu'à ses propres données (isolation par JWT / user_id).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F2A604"/>
          </a:solidFill>
          <a:ln w="12700">
            <a:solidFill>
              <a:srgbClr val="F2A6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fonctionnels &amp; non-fonctionnels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01768"/>
            <a:ext cx="8778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BeeTrack — Gestion Apicole Intelligente  |  Validation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658368"/>
            <a:ext cx="4023360" cy="42062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758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fonctionnels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14300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ruchers (CRUD)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ruches par rucher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des inspections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récoltes de miel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des tâches apicoles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financier (dépenses/revenus)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&amp; gestion des rôles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IA et recommandations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PDF/Excel des rapports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658368"/>
            <a:ext cx="4297680" cy="420624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7589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non-fonctionnels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114300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: </a:t>
            </a:r>
            <a:r>
              <a:rPr lang="en-US" sz="11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API &lt; 500ms, SPA fluide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: </a:t>
            </a:r>
            <a:r>
              <a:rPr lang="en-US" sz="11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HS256, HTTPS, BCrypt, CORS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: </a:t>
            </a:r>
            <a:r>
              <a:rPr lang="en-US" sz="11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 uptime, déploiement Docker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Scalabilité : </a:t>
            </a:r>
            <a:r>
              <a:rPr lang="en-US" sz="11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REST stateless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Maintenabilité : </a:t>
            </a:r>
            <a:r>
              <a:rPr lang="en-US" sz="11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(JUnit + Jasmine)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Ergonomie : </a:t>
            </a:r>
            <a:r>
              <a:rPr lang="en-US" sz="11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responsive, accessible (WCAG)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 IA : </a:t>
            </a:r>
            <a:r>
              <a:rPr lang="en-US" sz="11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si API IA indisponible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F2A604"/>
          </a:solidFill>
          <a:ln w="12700">
            <a:solidFill>
              <a:srgbClr val="F2A6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cas d'utilisation global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pic>
        <p:nvPicPr>
          <p:cNvPr id="57" name="Image 56">
            <a:extLst>
              <a:ext uri="{FF2B5EF4-FFF2-40B4-BE49-F238E27FC236}">
                <a16:creationId xmlns:a16="http://schemas.microsoft.com/office/drawing/2014/main" id="{390D3B2E-3B83-E890-34E4-E9350C793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594360"/>
            <a:ext cx="5371831" cy="42506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F2A604"/>
          </a:solidFill>
          <a:ln w="12700">
            <a:solidFill>
              <a:srgbClr val="F2A6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01768"/>
            <a:ext cx="8778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BeeTrack — Gestion Apicole Intelligente  |  Validation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658368"/>
            <a:ext cx="411480" cy="347472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" y="713232"/>
            <a:ext cx="356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658368"/>
            <a:ext cx="4389120" cy="347472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713232"/>
            <a:ext cx="4334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83480" y="658368"/>
            <a:ext cx="822960" cy="347472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713232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06440" y="658368"/>
            <a:ext cx="914400" cy="347472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713232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20840" y="658368"/>
            <a:ext cx="640080" cy="347472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713232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1005840"/>
            <a:ext cx="41148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" y="1051560"/>
            <a:ext cx="356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" y="1005840"/>
            <a:ext cx="438912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1051560"/>
            <a:ext cx="4334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qu'apiculteur, je veux m'inscrire et me connecter de façon sécurisée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83480" y="1005840"/>
            <a:ext cx="822960" cy="301752"/>
          </a:xfrm>
          <a:prstGeom prst="rect">
            <a:avLst/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1051560"/>
            <a:ext cx="768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06440" y="1005840"/>
            <a:ext cx="91440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33872" y="1051560"/>
            <a:ext cx="859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20840" y="1005840"/>
            <a:ext cx="640080" cy="301752"/>
          </a:xfrm>
          <a:prstGeom prst="rect">
            <a:avLst/>
          </a:prstGeom>
          <a:solidFill>
            <a:srgbClr val="1A2E1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8272" y="1051560"/>
            <a:ext cx="585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A6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2880" y="1307592"/>
            <a:ext cx="411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" y="1353312"/>
            <a:ext cx="356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4360" y="1307592"/>
            <a:ext cx="43891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1353312"/>
            <a:ext cx="4334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qu'apiculteur, je veux ajouter/modifier/supprimer mes ruchers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83480" y="1307592"/>
            <a:ext cx="822960" cy="301752"/>
          </a:xfrm>
          <a:prstGeom prst="rect">
            <a:avLst/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1353312"/>
            <a:ext cx="768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806440" y="1307592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33872" y="1353312"/>
            <a:ext cx="859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720840" y="1307592"/>
            <a:ext cx="640080" cy="301752"/>
          </a:xfrm>
          <a:prstGeom prst="rect">
            <a:avLst/>
          </a:prstGeom>
          <a:solidFill>
            <a:srgbClr val="1A2E1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48272" y="1353312"/>
            <a:ext cx="585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A6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82880" y="1609344"/>
            <a:ext cx="41148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0312" y="1655064"/>
            <a:ext cx="356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US03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94360" y="1609344"/>
            <a:ext cx="438912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" y="1655064"/>
            <a:ext cx="4334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qu'apiculteur, je veux gérer mes ruches par rucher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83480" y="1609344"/>
            <a:ext cx="822960" cy="301752"/>
          </a:xfrm>
          <a:prstGeom prst="rect">
            <a:avLst/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0912" y="1655064"/>
            <a:ext cx="768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806440" y="1609344"/>
            <a:ext cx="91440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33872" y="1655064"/>
            <a:ext cx="859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720840" y="1609344"/>
            <a:ext cx="640080" cy="301752"/>
          </a:xfrm>
          <a:prstGeom prst="rect">
            <a:avLst/>
          </a:prstGeom>
          <a:solidFill>
            <a:srgbClr val="1A2E1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48272" y="1655064"/>
            <a:ext cx="585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A6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82880" y="1911096"/>
            <a:ext cx="411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0312" y="1956816"/>
            <a:ext cx="356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US04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94360" y="1911096"/>
            <a:ext cx="43891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" y="1956816"/>
            <a:ext cx="4334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qu'apiculteur, je veux enregistrer une inspection complète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83480" y="1911096"/>
            <a:ext cx="822960" cy="301752"/>
          </a:xfrm>
          <a:prstGeom prst="rect">
            <a:avLst/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10912" y="1956816"/>
            <a:ext cx="768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806440" y="1911096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33872" y="1956816"/>
            <a:ext cx="859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720840" y="1911096"/>
            <a:ext cx="640080" cy="301752"/>
          </a:xfrm>
          <a:prstGeom prst="rect">
            <a:avLst/>
          </a:prstGeom>
          <a:solidFill>
            <a:srgbClr val="1A2E1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48272" y="1956816"/>
            <a:ext cx="585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A6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82880" y="2212848"/>
            <a:ext cx="41148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0312" y="2258568"/>
            <a:ext cx="356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US05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94360" y="2212848"/>
            <a:ext cx="438912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1792" y="2258568"/>
            <a:ext cx="4334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qu'apiculteur, je veux consulter l'historique des inspections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983480" y="2212848"/>
            <a:ext cx="822960" cy="301752"/>
          </a:xfrm>
          <a:prstGeom prst="rect">
            <a:avLst/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10912" y="2258568"/>
            <a:ext cx="768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806440" y="2212848"/>
            <a:ext cx="91440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33872" y="2258568"/>
            <a:ext cx="859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720840" y="2212848"/>
            <a:ext cx="640080" cy="301752"/>
          </a:xfrm>
          <a:prstGeom prst="rect">
            <a:avLst/>
          </a:prstGeom>
          <a:solidFill>
            <a:srgbClr val="2D501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48272" y="2258568"/>
            <a:ext cx="585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A6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182880" y="2514600"/>
            <a:ext cx="411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10312" y="2560320"/>
            <a:ext cx="356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US06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94360" y="2514600"/>
            <a:ext cx="43891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21792" y="2560320"/>
            <a:ext cx="4334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qu'apiculteur, je veux enregistrer mes récoltes de miel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983480" y="2514600"/>
            <a:ext cx="822960" cy="301752"/>
          </a:xfrm>
          <a:prstGeom prst="rect">
            <a:avLst/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10912" y="2560320"/>
            <a:ext cx="768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806440" y="2514600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33872" y="2560320"/>
            <a:ext cx="859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720840" y="2514600"/>
            <a:ext cx="640080" cy="301752"/>
          </a:xfrm>
          <a:prstGeom prst="rect">
            <a:avLst/>
          </a:prstGeom>
          <a:solidFill>
            <a:srgbClr val="2D501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748272" y="2560320"/>
            <a:ext cx="585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A6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182880" y="2816352"/>
            <a:ext cx="41148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10312" y="2862072"/>
            <a:ext cx="356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US07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594360" y="2816352"/>
            <a:ext cx="438912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21792" y="2862072"/>
            <a:ext cx="4334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qu'apiculteur, je veux créer et planifier des tâches apicoles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983480" y="2816352"/>
            <a:ext cx="822960" cy="301752"/>
          </a:xfrm>
          <a:prstGeom prst="rect">
            <a:avLst/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010912" y="2862072"/>
            <a:ext cx="768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5806440" y="2816352"/>
            <a:ext cx="91440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833872" y="2862072"/>
            <a:ext cx="859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720840" y="2816352"/>
            <a:ext cx="640080" cy="301752"/>
          </a:xfrm>
          <a:prstGeom prst="rect">
            <a:avLst/>
          </a:prstGeom>
          <a:solidFill>
            <a:srgbClr val="2D501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748272" y="2862072"/>
            <a:ext cx="585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A6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182880" y="3118104"/>
            <a:ext cx="411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10312" y="3163824"/>
            <a:ext cx="356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US08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594360" y="3118104"/>
            <a:ext cx="43891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21792" y="3163824"/>
            <a:ext cx="4334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qu'apiculteur, je veux saisir mes dépenses et revenus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983480" y="3118104"/>
            <a:ext cx="822960" cy="301752"/>
          </a:xfrm>
          <a:prstGeom prst="rect">
            <a:avLst/>
          </a:prstGeom>
          <a:solidFill>
            <a:srgbClr val="FEF3C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010912" y="3163824"/>
            <a:ext cx="768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5806440" y="3118104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833872" y="3163824"/>
            <a:ext cx="859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6720840" y="3118104"/>
            <a:ext cx="640080" cy="301752"/>
          </a:xfrm>
          <a:prstGeom prst="rect">
            <a:avLst/>
          </a:prstGeom>
          <a:solidFill>
            <a:srgbClr val="2D501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748272" y="3163824"/>
            <a:ext cx="585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A6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182880" y="3419856"/>
            <a:ext cx="41148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10312" y="3465576"/>
            <a:ext cx="356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US09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594360" y="3419856"/>
            <a:ext cx="438912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21792" y="3465576"/>
            <a:ext cx="4334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qu'apiculteur, je veux voir un tableau de bord financier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4983480" y="3419856"/>
            <a:ext cx="822960" cy="301752"/>
          </a:xfrm>
          <a:prstGeom prst="rect">
            <a:avLst/>
          </a:prstGeom>
          <a:solidFill>
            <a:srgbClr val="FEF3C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010912" y="3465576"/>
            <a:ext cx="768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5806440" y="3419856"/>
            <a:ext cx="91440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833872" y="3465576"/>
            <a:ext cx="859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6720840" y="3419856"/>
            <a:ext cx="640080" cy="301752"/>
          </a:xfrm>
          <a:prstGeom prst="rect">
            <a:avLst/>
          </a:prstGeom>
          <a:solidFill>
            <a:srgbClr val="0D737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748272" y="3465576"/>
            <a:ext cx="585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A6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182880" y="3721608"/>
            <a:ext cx="411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10312" y="3767328"/>
            <a:ext cx="356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US10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594360" y="3721608"/>
            <a:ext cx="43891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21792" y="3767328"/>
            <a:ext cx="4334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qu'apiculteur, je veux recevoir des recommandations IA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4983480" y="3721608"/>
            <a:ext cx="822960" cy="301752"/>
          </a:xfrm>
          <a:prstGeom prst="rect">
            <a:avLst/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010912" y="3767328"/>
            <a:ext cx="768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5806440" y="3721608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833872" y="3767328"/>
            <a:ext cx="859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6720840" y="3721608"/>
            <a:ext cx="640080" cy="301752"/>
          </a:xfrm>
          <a:prstGeom prst="rect">
            <a:avLst/>
          </a:prstGeom>
          <a:solidFill>
            <a:srgbClr val="0D737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748272" y="3767328"/>
            <a:ext cx="585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A6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182880" y="4023360"/>
            <a:ext cx="41148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10312" y="4069080"/>
            <a:ext cx="356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US11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594360" y="4023360"/>
            <a:ext cx="438912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21792" y="4069080"/>
            <a:ext cx="4334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qu'apiculteur, je veux utiliser un assistant chatbot IA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4983480" y="4023360"/>
            <a:ext cx="822960" cy="301752"/>
          </a:xfrm>
          <a:prstGeom prst="rect">
            <a:avLst/>
          </a:prstGeom>
          <a:solidFill>
            <a:srgbClr val="FEF3C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010912" y="4069080"/>
            <a:ext cx="768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5806440" y="4023360"/>
            <a:ext cx="91440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833872" y="4069080"/>
            <a:ext cx="859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6720840" y="4023360"/>
            <a:ext cx="640080" cy="301752"/>
          </a:xfrm>
          <a:prstGeom prst="rect">
            <a:avLst/>
          </a:prstGeom>
          <a:solidFill>
            <a:srgbClr val="0D737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748272" y="4069080"/>
            <a:ext cx="585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A6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182880" y="4325112"/>
            <a:ext cx="411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10312" y="4370832"/>
            <a:ext cx="356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</a:t>
            </a:r>
            <a:endParaRPr lang="en-US" sz="950" dirty="0"/>
          </a:p>
        </p:txBody>
      </p:sp>
      <p:sp>
        <p:nvSpPr>
          <p:cNvPr id="130" name="Shape 128"/>
          <p:cNvSpPr/>
          <p:nvPr/>
        </p:nvSpPr>
        <p:spPr>
          <a:xfrm>
            <a:off x="594360" y="4325112"/>
            <a:ext cx="43891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21792" y="4370832"/>
            <a:ext cx="4334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qu'admin, je veux gérer les comptes et les rôles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4983480" y="4325112"/>
            <a:ext cx="822960" cy="301752"/>
          </a:xfrm>
          <a:prstGeom prst="rect">
            <a:avLst/>
          </a:prstGeom>
          <a:solidFill>
            <a:srgbClr val="FEF3C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010912" y="4370832"/>
            <a:ext cx="768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5806440" y="4325112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833872" y="4370832"/>
            <a:ext cx="859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136" name="Shape 134"/>
          <p:cNvSpPr/>
          <p:nvPr/>
        </p:nvSpPr>
        <p:spPr>
          <a:xfrm>
            <a:off x="6720840" y="4325112"/>
            <a:ext cx="640080" cy="301752"/>
          </a:xfrm>
          <a:prstGeom prst="rect">
            <a:avLst/>
          </a:prstGeom>
          <a:solidFill>
            <a:srgbClr val="0D737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748272" y="4370832"/>
            <a:ext cx="585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A6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F2A604"/>
          </a:solidFill>
          <a:ln w="12700">
            <a:solidFill>
              <a:srgbClr val="F2A6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des sprints &amp; releases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01768"/>
            <a:ext cx="8778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BeeTrack — Gestion Apicole Intelligente  |  Validation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658368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658368"/>
            <a:ext cx="2788920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7132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57400" y="731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2A6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pts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1188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1–3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1481328"/>
            <a:ext cx="25786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JWT (inscription/connexion)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ruchers (CRUD)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ruches (CRUD)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inspections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18688" y="658368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658368"/>
            <a:ext cx="278892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7132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01768" y="731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2A6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pts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28416" y="1188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4–6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28416" y="1481328"/>
            <a:ext cx="25786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inspections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Récoltes de miel (CRUD)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apicoles &amp; statuts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dépenses/revenus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63056" y="658368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86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63056" y="658368"/>
            <a:ext cx="2788920" cy="475488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2784" y="7132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46136" y="731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2A6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pts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72784" y="1188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7–9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72784" y="1481328"/>
            <a:ext cx="25786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financier &amp; graphiques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IA : recommandations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assistant IA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: gestion rôles &amp; users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" y="4645152"/>
            <a:ext cx="859536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25880" y="4590288"/>
            <a:ext cx="219456" cy="21945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MVP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270248" y="4590288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75888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Finances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214616" y="4590288"/>
            <a:ext cx="219456" cy="219456"/>
          </a:xfrm>
          <a:prstGeom prst="ellipse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0256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IA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F2A604"/>
          </a:solidFill>
          <a:ln w="12700">
            <a:solidFill>
              <a:srgbClr val="F2A6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rôles SCRUM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01768"/>
            <a:ext cx="8778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BeeTrack — Gestion Apicole Intelligente  |  Validation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658368"/>
            <a:ext cx="2788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658368"/>
            <a:ext cx="278892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22376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4672" y="731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12984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Ahmed Ayadi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65760" y="1627632"/>
            <a:ext cx="260604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1691640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 la vision du produit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Priorise le Product Backlog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les livrables de chaque sprint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Représente les besoins des apiculteurs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18688" y="658368"/>
            <a:ext cx="2788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50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18688" y="658368"/>
            <a:ext cx="2788920" cy="54864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722376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49040" y="731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310128" y="12984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Bilel Habibi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3310128" y="1627632"/>
            <a:ext cx="260604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10128" y="1691640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Facilite les cérémonies SCRUM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Lève les obstacles de l'équipe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au respect du framework SCRUM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la vélocité de l'équipe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163056" y="658368"/>
            <a:ext cx="2788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63056" y="658368"/>
            <a:ext cx="27889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722376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693408" y="731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de dev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254496" y="12984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Bilel H. &amp; Mohamed A.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254496" y="1627632"/>
            <a:ext cx="260604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254496" y="1691640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Angular (front)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Spring Boot (back)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API IA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&amp; intégration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274320" y="476631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Cérémonies SCRUM planifiées : Sprint Planning | Daily Stand-up | Sprint Review | Rétrospective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F2A604"/>
          </a:solidFill>
          <a:ln w="12700">
            <a:solidFill>
              <a:srgbClr val="F2A6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technologiques &amp; outils de collaboration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01768"/>
            <a:ext cx="8778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BeeTrack — Gestion Apicole Intelligente  |  Validation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658368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658368"/>
            <a:ext cx="416052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7223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09728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17+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Material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/ ng2-charts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RxJS 7+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658368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50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658368"/>
            <a:ext cx="4160520" cy="384048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7223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18888" y="109728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(Java 17)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/ Hibernate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(migrations)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WebClient (IA calls)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807208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07208"/>
            <a:ext cx="416052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8712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32461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15+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Indexation sur user_id, date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comme PK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FK strictes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807208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86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807208"/>
            <a:ext cx="4160520" cy="384048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28712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&amp; 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18888" y="32461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(Anthropic)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: claude-sonnet-4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en cas d'indispo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590288"/>
            <a:ext cx="8595360" cy="45720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A6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:  Git / GitHub   |   Jira / Trello   |   Discord / Slack   |   VS Code   |   Postman   |   Docker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160A5-9DF9-C61E-BDC2-1BCD0FCC2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8EED69-0E4B-9E57-40D8-3151B2EA89C7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9CC7A0D-D670-7D2A-A217-0636BF0621B3}"/>
              </a:ext>
            </a:extLst>
          </p:cNvPr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F2A604"/>
          </a:solidFill>
          <a:ln w="12700">
            <a:solidFill>
              <a:srgbClr val="F2A604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6788DBC-BFE1-65FC-4BBA-5960AF32F758}"/>
              </a:ext>
            </a:extLst>
          </p:cNvPr>
          <p:cNvSpPr/>
          <p:nvPr/>
        </p:nvSpPr>
        <p:spPr>
          <a:xfrm>
            <a:off x="1422400" y="1568450"/>
            <a:ext cx="6400800" cy="187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</a:t>
            </a:r>
            <a:r>
              <a:rPr lang="en-US" sz="72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votre</a:t>
            </a:r>
            <a:r>
              <a:rPr lang="en-US" sz="7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Attention</a:t>
            </a:r>
            <a:endParaRPr lang="en-US" sz="7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2CEA92A-2C30-1274-8CC0-32C523A923EA}"/>
              </a:ext>
            </a:extLst>
          </p:cNvPr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435B615-A018-ED00-F023-50E31585E80E}"/>
              </a:ext>
            </a:extLst>
          </p:cNvPr>
          <p:cNvSpPr/>
          <p:nvPr/>
        </p:nvSpPr>
        <p:spPr>
          <a:xfrm>
            <a:off x="182880" y="5001768"/>
            <a:ext cx="8778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BeeTrack — Gestion Apicole Intelligente  |  Validation 1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28066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947</Words>
  <Application>Microsoft Office PowerPoint</Application>
  <PresentationFormat>Affichage à l'écran (16:9)</PresentationFormat>
  <Paragraphs>268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BeeTrack — Présentation Validation 1</dc:title>
  <dc:subject>PptxGenJS Presentation</dc:subject>
  <dc:creator>PptxGenJS</dc:creator>
  <cp:lastModifiedBy>Bilel HABIBI</cp:lastModifiedBy>
  <cp:revision>4</cp:revision>
  <dcterms:created xsi:type="dcterms:W3CDTF">2026-04-19T18:02:12Z</dcterms:created>
  <dcterms:modified xsi:type="dcterms:W3CDTF">2026-04-20T08:55:06Z</dcterms:modified>
</cp:coreProperties>
</file>